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B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8585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D59A4-0BEF-2B81-65D5-2FF8908D4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2D9A69-DF81-373E-E1F0-0F83D0829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6AF39C-A7D6-4F30-77FC-47330A12C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925B7-CDE7-B5D7-413F-D128C5ABA4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489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1">
            <a:extLst>
              <a:ext uri="{FF2B5EF4-FFF2-40B4-BE49-F238E27FC236}">
                <a16:creationId xmlns:a16="http://schemas.microsoft.com/office/drawing/2014/main" id="{5717587A-EC92-69D4-93B4-D2B17395E0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F6B3C875-562F-B2C1-C0EB-E7507763F6BF}"/>
              </a:ext>
            </a:extLst>
          </p:cNvPr>
          <p:cNvSpPr/>
          <p:nvPr/>
        </p:nvSpPr>
        <p:spPr>
          <a:xfrm>
            <a:off x="2913888" y="6004560"/>
            <a:ext cx="6211824" cy="316992"/>
          </a:xfrm>
          <a:prstGeom prst="rect">
            <a:avLst/>
          </a:prstGeom>
          <a:solidFill>
            <a:srgbClr val="031B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8138552-F757-B494-4712-D2AF61884CE2}"/>
              </a:ext>
            </a:extLst>
          </p:cNvPr>
          <p:cNvSpPr/>
          <p:nvPr/>
        </p:nvSpPr>
        <p:spPr>
          <a:xfrm>
            <a:off x="232757" y="2770910"/>
            <a:ext cx="9418320" cy="29482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F014396-8ACE-0C3D-4D9C-7384E90A85F8}"/>
              </a:ext>
            </a:extLst>
          </p:cNvPr>
          <p:cNvSpPr/>
          <p:nvPr/>
        </p:nvSpPr>
        <p:spPr>
          <a:xfrm>
            <a:off x="9767454" y="-1"/>
            <a:ext cx="2424545" cy="58189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B829029-1721-80D2-7684-5DE90DA91CF8}"/>
              </a:ext>
            </a:extLst>
          </p:cNvPr>
          <p:cNvSpPr/>
          <p:nvPr/>
        </p:nvSpPr>
        <p:spPr>
          <a:xfrm>
            <a:off x="0" y="1"/>
            <a:ext cx="9651077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DA5592-588B-ADED-4925-33156D2CF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1">
            <a:extLst>
              <a:ext uri="{FF2B5EF4-FFF2-40B4-BE49-F238E27FC236}">
                <a16:creationId xmlns:a16="http://schemas.microsoft.com/office/drawing/2014/main" id="{82B416EB-8BE1-3301-B8AB-CF635862D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724751C-2495-B7F1-4269-8DA8EF95EA7A}"/>
              </a:ext>
            </a:extLst>
          </p:cNvPr>
          <p:cNvSpPr/>
          <p:nvPr/>
        </p:nvSpPr>
        <p:spPr>
          <a:xfrm>
            <a:off x="365760" y="14630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KSIA–RAC Integration Update</a:t>
            </a:r>
            <a:endParaRPr lang="en-US" sz="28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3E44BC6-76CE-65EC-39FD-C0EFA92ED9B7}"/>
              </a:ext>
            </a:extLst>
          </p:cNvPr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67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Bridge for a Future-Ready Aviation Ecosystem</a:t>
            </a:r>
            <a:endParaRPr lang="en-US" sz="17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C80FC2D-3F4D-6E30-8B24-D82819600779}"/>
              </a:ext>
            </a:extLst>
          </p:cNvPr>
          <p:cNvSpPr/>
          <p:nvPr/>
        </p:nvSpPr>
        <p:spPr>
          <a:xfrm>
            <a:off x="365760" y="1005840"/>
            <a:ext cx="777240" cy="41148"/>
          </a:xfrm>
          <a:prstGeom prst="rect">
            <a:avLst/>
          </a:prstGeom>
          <a:solidFill>
            <a:srgbClr val="967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BBB9825-F652-27BC-DBDE-E6C004E124BE}"/>
              </a:ext>
            </a:extLst>
          </p:cNvPr>
          <p:cNvSpPr/>
          <p:nvPr/>
        </p:nvSpPr>
        <p:spPr>
          <a:xfrm>
            <a:off x="393192" y="137160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Laying the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C1E4223-6A07-6DD1-7CBE-37B2E1246A0B}"/>
              </a:ext>
            </a:extLst>
          </p:cNvPr>
          <p:cNvSpPr/>
          <p:nvPr/>
        </p:nvSpPr>
        <p:spPr>
          <a:xfrm>
            <a:off x="1901952" y="137160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&amp;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6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92BAAE4-F6B8-FDF0-7134-095F41DCADB3}"/>
              </a:ext>
            </a:extLst>
          </p:cNvPr>
          <p:cNvSpPr/>
          <p:nvPr/>
        </p:nvSpPr>
        <p:spPr>
          <a:xfrm>
            <a:off x="3410712" y="137160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&amp;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6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32C7311-92A1-A42A-2CF2-4A298C06A682}"/>
              </a:ext>
            </a:extLst>
          </p:cNvPr>
          <p:cNvSpPr/>
          <p:nvPr/>
        </p:nvSpPr>
        <p:spPr>
          <a:xfrm>
            <a:off x="4919472" y="137160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for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6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6FDC5AAC-FCE9-CF1A-831C-B214FE0ACE39}"/>
              </a:ext>
            </a:extLst>
          </p:cNvPr>
          <p:cNvSpPr/>
          <p:nvPr/>
        </p:nvSpPr>
        <p:spPr>
          <a:xfrm>
            <a:off x="6428232" y="137160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Forward</a:t>
            </a:r>
            <a:endParaRPr lang="en-US" sz="16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FCBBF70-6008-2AA2-7484-75BBA24951AA}"/>
              </a:ext>
            </a:extLst>
          </p:cNvPr>
          <p:cNvSpPr/>
          <p:nvPr/>
        </p:nvSpPr>
        <p:spPr>
          <a:xfrm>
            <a:off x="7936992" y="117209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Roadmap</a:t>
            </a:r>
            <a:endParaRPr lang="en-US" sz="16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2F83B296-5661-D123-5118-B75FDDE369D3}"/>
              </a:ext>
            </a:extLst>
          </p:cNvPr>
          <p:cNvSpPr/>
          <p:nvPr/>
        </p:nvSpPr>
        <p:spPr>
          <a:xfrm>
            <a:off x="429768" y="2883372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967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</a:t>
            </a:r>
            <a:r>
              <a:rPr lang="en-US" sz="110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&amp;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</a:t>
            </a:r>
            <a:endParaRPr lang="en-US" sz="11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CCBE0B11-B68C-6233-C37A-3D3730F50E8F}"/>
              </a:ext>
            </a:extLst>
          </p:cNvPr>
          <p:cNvSpPr/>
          <p:nvPr/>
        </p:nvSpPr>
        <p:spPr>
          <a:xfrm>
            <a:off x="749808" y="3368004"/>
            <a:ext cx="740664" cy="0"/>
          </a:xfrm>
          <a:prstGeom prst="line">
            <a:avLst/>
          </a:prstGeom>
          <a:noFill/>
          <a:ln w="9525">
            <a:solidFill>
              <a:srgbClr val="C9B98A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6BCD3DF8-BF76-1108-2616-12E2E3B4B763}"/>
              </a:ext>
            </a:extLst>
          </p:cNvPr>
          <p:cNvSpPr/>
          <p:nvPr/>
        </p:nvSpPr>
        <p:spPr>
          <a:xfrm>
            <a:off x="429768" y="3450300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967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</a:t>
            </a:r>
            <a:r>
              <a:rPr lang="en-US" sz="110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11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EB396371-3316-6DD8-4EC8-AC9C802F7A98}"/>
              </a:ext>
            </a:extLst>
          </p:cNvPr>
          <p:cNvSpPr/>
          <p:nvPr/>
        </p:nvSpPr>
        <p:spPr>
          <a:xfrm>
            <a:off x="1938528" y="2883372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967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Gaps &amp; Risks Identified</a:t>
            </a:r>
            <a:endParaRPr lang="en-US" sz="105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8303540E-5C9E-A973-441B-E10BB136AB89}"/>
              </a:ext>
            </a:extLst>
          </p:cNvPr>
          <p:cNvSpPr/>
          <p:nvPr/>
        </p:nvSpPr>
        <p:spPr>
          <a:xfrm>
            <a:off x="2258568" y="3368004"/>
            <a:ext cx="740664" cy="0"/>
          </a:xfrm>
          <a:prstGeom prst="line">
            <a:avLst/>
          </a:prstGeom>
          <a:noFill/>
          <a:ln w="9525">
            <a:solidFill>
              <a:srgbClr val="C9B98A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pic>
        <p:nvPicPr>
          <p:cNvPr id="22" name="Image 3" descr="/home/claude/ksia_rac/assets/mini_clipboard.png">
            <a:extLst>
              <a:ext uri="{FF2B5EF4-FFF2-40B4-BE49-F238E27FC236}">
                <a16:creationId xmlns:a16="http://schemas.microsoft.com/office/drawing/2014/main" id="{3FBD1419-EC95-F193-CE91-C15C12767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1740" y="3450300"/>
            <a:ext cx="274320" cy="274320"/>
          </a:xfrm>
          <a:prstGeom prst="rect">
            <a:avLst/>
          </a:prstGeom>
        </p:spPr>
      </p:pic>
      <p:sp>
        <p:nvSpPr>
          <p:cNvPr id="23" name="Text 17">
            <a:extLst>
              <a:ext uri="{FF2B5EF4-FFF2-40B4-BE49-F238E27FC236}">
                <a16:creationId xmlns:a16="http://schemas.microsoft.com/office/drawing/2014/main" id="{4990B960-8DE0-44AF-DBCA-E1AA26EFBB72}"/>
              </a:ext>
            </a:extLst>
          </p:cNvPr>
          <p:cNvSpPr/>
          <p:nvPr/>
        </p:nvSpPr>
        <p:spPr>
          <a:xfrm>
            <a:off x="3447288" y="2883372"/>
            <a:ext cx="1380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Requirements</a:t>
            </a:r>
            <a:endParaRPr lang="en-US" sz="10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</a:t>
            </a:r>
            <a:endParaRPr lang="en-US" sz="105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FF24CB71-E9BF-78FE-317B-0DD7298BAD38}"/>
              </a:ext>
            </a:extLst>
          </p:cNvPr>
          <p:cNvSpPr/>
          <p:nvPr/>
        </p:nvSpPr>
        <p:spPr>
          <a:xfrm>
            <a:off x="3767328" y="3313140"/>
            <a:ext cx="740664" cy="0"/>
          </a:xfrm>
          <a:prstGeom prst="line">
            <a:avLst/>
          </a:prstGeom>
          <a:noFill/>
          <a:ln w="9525">
            <a:solidFill>
              <a:srgbClr val="C9B98A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59A1F537-6D54-CCF5-CC3D-E31A8AD44371}"/>
              </a:ext>
            </a:extLst>
          </p:cNvPr>
          <p:cNvSpPr/>
          <p:nvPr/>
        </p:nvSpPr>
        <p:spPr>
          <a:xfrm>
            <a:off x="3447288" y="3395436"/>
            <a:ext cx="1380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Compiled</a:t>
            </a:r>
            <a:endParaRPr lang="en-US" sz="10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to</a:t>
            </a:r>
            <a:endParaRPr lang="en-US" sz="10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Gaps</a:t>
            </a:r>
            <a:endParaRPr lang="en-US" sz="105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9465E738-2E80-2A47-1B6D-FE5158414D18}"/>
              </a:ext>
            </a:extLst>
          </p:cNvPr>
          <p:cNvSpPr/>
          <p:nvPr/>
        </p:nvSpPr>
        <p:spPr>
          <a:xfrm>
            <a:off x="4956048" y="2883372"/>
            <a:ext cx="1380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RAC</a:t>
            </a:r>
            <a:endParaRPr lang="en-US" sz="10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Feasibility</a:t>
            </a:r>
            <a:endParaRPr lang="en-US" sz="10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05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956DB36C-C099-49F2-59C1-C04A1CBDE67A}"/>
              </a:ext>
            </a:extLst>
          </p:cNvPr>
          <p:cNvSpPr/>
          <p:nvPr/>
        </p:nvSpPr>
        <p:spPr>
          <a:xfrm>
            <a:off x="5276088" y="3477732"/>
            <a:ext cx="740664" cy="0"/>
          </a:xfrm>
          <a:prstGeom prst="line">
            <a:avLst/>
          </a:prstGeom>
          <a:noFill/>
          <a:ln w="9525">
            <a:solidFill>
              <a:srgbClr val="C9B98A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pic>
        <p:nvPicPr>
          <p:cNvPr id="28" name="Image 4" descr="/home/claude/ksia_rac/assets/mini_calendar.png">
            <a:extLst>
              <a:ext uri="{FF2B5EF4-FFF2-40B4-BE49-F238E27FC236}">
                <a16:creationId xmlns:a16="http://schemas.microsoft.com/office/drawing/2014/main" id="{ED7AE086-0ABC-EED4-5BC5-8253CAF4B1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9260" y="3560028"/>
            <a:ext cx="274320" cy="274320"/>
          </a:xfrm>
          <a:prstGeom prst="rect">
            <a:avLst/>
          </a:prstGeom>
        </p:spPr>
      </p:pic>
      <p:sp>
        <p:nvSpPr>
          <p:cNvPr id="29" name="Text 22">
            <a:extLst>
              <a:ext uri="{FF2B5EF4-FFF2-40B4-BE49-F238E27FC236}">
                <a16:creationId xmlns:a16="http://schemas.microsoft.com/office/drawing/2014/main" id="{BD03FD59-A24C-5677-CBEA-6C3549B0B404}"/>
              </a:ext>
            </a:extLst>
          </p:cNvPr>
          <p:cNvSpPr/>
          <p:nvPr/>
        </p:nvSpPr>
        <p:spPr>
          <a:xfrm>
            <a:off x="4956048" y="3889212"/>
            <a:ext cx="1380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on</a:t>
            </a:r>
            <a:endParaRPr lang="en-US" sz="10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8th July 2026</a:t>
            </a:r>
            <a:endParaRPr lang="en-US" sz="1050" dirty="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DD3ED5F4-D646-B057-3E7A-9DF8BC117378}"/>
              </a:ext>
            </a:extLst>
          </p:cNvPr>
          <p:cNvSpPr/>
          <p:nvPr/>
        </p:nvSpPr>
        <p:spPr>
          <a:xfrm>
            <a:off x="6464808" y="2883372"/>
            <a:ext cx="1380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</a:t>
            </a:r>
            <a:endParaRPr lang="en-US" sz="10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050" dirty="0"/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0738E31C-8F9E-1D70-DA0C-13CBF4A929A1}"/>
              </a:ext>
            </a:extLst>
          </p:cNvPr>
          <p:cNvSpPr/>
          <p:nvPr/>
        </p:nvSpPr>
        <p:spPr>
          <a:xfrm>
            <a:off x="6784848" y="3313140"/>
            <a:ext cx="740664" cy="0"/>
          </a:xfrm>
          <a:prstGeom prst="line">
            <a:avLst/>
          </a:prstGeom>
          <a:noFill/>
          <a:ln w="9525">
            <a:solidFill>
              <a:srgbClr val="C9B98A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270F45C3-B102-CDFD-007A-6E3A5D53456E}"/>
              </a:ext>
            </a:extLst>
          </p:cNvPr>
          <p:cNvSpPr/>
          <p:nvPr/>
        </p:nvSpPr>
        <p:spPr>
          <a:xfrm>
            <a:off x="6464808" y="3395436"/>
            <a:ext cx="1380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Workshops to</a:t>
            </a:r>
            <a:endParaRPr lang="en-US" sz="10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Clarify, Estimate</a:t>
            </a:r>
            <a:endParaRPr lang="en-US" sz="10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Define</a:t>
            </a:r>
            <a:endParaRPr lang="en-US" sz="10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Path</a:t>
            </a:r>
            <a:endParaRPr lang="en-US" sz="1050" dirty="0"/>
          </a:p>
        </p:txBody>
      </p:sp>
      <p:pic>
        <p:nvPicPr>
          <p:cNvPr id="33" name="Image 5" descr="/home/claude/ksia_rac/assets/mini_calendar.png">
            <a:extLst>
              <a:ext uri="{FF2B5EF4-FFF2-40B4-BE49-F238E27FC236}">
                <a16:creationId xmlns:a16="http://schemas.microsoft.com/office/drawing/2014/main" id="{8C34654E-5A62-8213-2F39-A84E45B09B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780" y="2883372"/>
            <a:ext cx="274320" cy="274320"/>
          </a:xfrm>
          <a:prstGeom prst="rect">
            <a:avLst/>
          </a:prstGeom>
        </p:spPr>
      </p:pic>
      <p:sp>
        <p:nvSpPr>
          <p:cNvPr id="34" name="Text 26">
            <a:extLst>
              <a:ext uri="{FF2B5EF4-FFF2-40B4-BE49-F238E27FC236}">
                <a16:creationId xmlns:a16="http://schemas.microsoft.com/office/drawing/2014/main" id="{64F1FF3F-68BD-D3F8-623E-26EFEAEF5D7C}"/>
              </a:ext>
            </a:extLst>
          </p:cNvPr>
          <p:cNvSpPr/>
          <p:nvPr/>
        </p:nvSpPr>
        <p:spPr>
          <a:xfrm>
            <a:off x="7973568" y="321255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967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End of 2026</a:t>
            </a:r>
            <a:endParaRPr lang="en-US" sz="1050" dirty="0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FB482F34-7A72-26BF-E6F3-73D6F109B944}"/>
              </a:ext>
            </a:extLst>
          </p:cNvPr>
          <p:cNvSpPr/>
          <p:nvPr/>
        </p:nvSpPr>
        <p:spPr>
          <a:xfrm>
            <a:off x="7973568" y="3413724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Assets</a:t>
            </a:r>
            <a:endParaRPr lang="en-US" sz="1050" dirty="0"/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D56FC2C0-A110-3D2D-1222-764BFC9C6FFA}"/>
              </a:ext>
            </a:extLst>
          </p:cNvPr>
          <p:cNvSpPr/>
          <p:nvPr/>
        </p:nvSpPr>
        <p:spPr>
          <a:xfrm>
            <a:off x="8293608" y="3642324"/>
            <a:ext cx="740664" cy="0"/>
          </a:xfrm>
          <a:prstGeom prst="line">
            <a:avLst/>
          </a:prstGeom>
          <a:noFill/>
          <a:ln w="9525">
            <a:solidFill>
              <a:srgbClr val="C9B98A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A55CBF64-625E-BED1-6108-2B5546A0374F}"/>
              </a:ext>
            </a:extLst>
          </p:cNvPr>
          <p:cNvSpPr/>
          <p:nvPr/>
        </p:nvSpPr>
        <p:spPr>
          <a:xfrm>
            <a:off x="7973568" y="3724620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967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July 2027</a:t>
            </a:r>
            <a:endParaRPr lang="en-US" sz="1050" dirty="0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702178D0-3044-7948-7A37-601421B418CC}"/>
              </a:ext>
            </a:extLst>
          </p:cNvPr>
          <p:cNvSpPr/>
          <p:nvPr/>
        </p:nvSpPr>
        <p:spPr>
          <a:xfrm>
            <a:off x="7973568" y="3925788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Assets</a:t>
            </a:r>
            <a:endParaRPr lang="en-US" sz="1050" dirty="0"/>
          </a:p>
        </p:txBody>
      </p:sp>
      <p:sp>
        <p:nvSpPr>
          <p:cNvPr id="39" name="Shape 31">
            <a:extLst>
              <a:ext uri="{FF2B5EF4-FFF2-40B4-BE49-F238E27FC236}">
                <a16:creationId xmlns:a16="http://schemas.microsoft.com/office/drawing/2014/main" id="{EEE61B7C-62D2-03CC-069A-DAAA583F9FDA}"/>
              </a:ext>
            </a:extLst>
          </p:cNvPr>
          <p:cNvSpPr/>
          <p:nvPr/>
        </p:nvSpPr>
        <p:spPr>
          <a:xfrm>
            <a:off x="8293608" y="4154388"/>
            <a:ext cx="740664" cy="0"/>
          </a:xfrm>
          <a:prstGeom prst="line">
            <a:avLst/>
          </a:prstGeom>
          <a:noFill/>
          <a:ln w="9525">
            <a:solidFill>
              <a:srgbClr val="C9B98A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A369B4BC-8985-8D69-B196-43F34B5836A2}"/>
              </a:ext>
            </a:extLst>
          </p:cNvPr>
          <p:cNvSpPr/>
          <p:nvPr/>
        </p:nvSpPr>
        <p:spPr>
          <a:xfrm>
            <a:off x="7973568" y="4236684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to Come</a:t>
            </a:r>
            <a:endParaRPr lang="en-US" sz="1050" dirty="0"/>
          </a:p>
        </p:txBody>
      </p:sp>
      <p:sp>
        <p:nvSpPr>
          <p:cNvPr id="41" name="Shape 33">
            <a:extLst>
              <a:ext uri="{FF2B5EF4-FFF2-40B4-BE49-F238E27FC236}">
                <a16:creationId xmlns:a16="http://schemas.microsoft.com/office/drawing/2014/main" id="{19092989-ED66-CD35-50D4-4D5009EB0482}"/>
              </a:ext>
            </a:extLst>
          </p:cNvPr>
          <p:cNvSpPr/>
          <p:nvPr/>
        </p:nvSpPr>
        <p:spPr>
          <a:xfrm>
            <a:off x="9601200" y="1371600"/>
            <a:ext cx="2224735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671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B431B4D1-5066-B5CE-9257-8BA68ED3C222}"/>
              </a:ext>
            </a:extLst>
          </p:cNvPr>
          <p:cNvSpPr/>
          <p:nvPr/>
        </p:nvSpPr>
        <p:spPr>
          <a:xfrm>
            <a:off x="9601200" y="1371600"/>
            <a:ext cx="2224735" cy="365760"/>
          </a:xfrm>
          <a:prstGeom prst="rect">
            <a:avLst/>
          </a:prstGeom>
          <a:solidFill>
            <a:srgbClr val="967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10EC66B5-419F-A389-1304-B5842C616AC7}"/>
              </a:ext>
            </a:extLst>
          </p:cNvPr>
          <p:cNvSpPr/>
          <p:nvPr/>
        </p:nvSpPr>
        <p:spPr>
          <a:xfrm>
            <a:off x="9738360" y="1371600"/>
            <a:ext cx="1950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ASSETS – PRE 2028</a:t>
            </a:r>
            <a:endParaRPr lang="en-US" sz="1250" dirty="0"/>
          </a:p>
        </p:txBody>
      </p:sp>
      <p:pic>
        <p:nvPicPr>
          <p:cNvPr id="44" name="Image 6" descr="/home/claude/ksia_rac/assets/side_droplet.png">
            <a:extLst>
              <a:ext uri="{FF2B5EF4-FFF2-40B4-BE49-F238E27FC236}">
                <a16:creationId xmlns:a16="http://schemas.microsoft.com/office/drawing/2014/main" id="{B513227C-ADE2-0A5A-34ED-70D817B4A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0" y="1830324"/>
            <a:ext cx="256032" cy="256032"/>
          </a:xfrm>
          <a:prstGeom prst="rect">
            <a:avLst/>
          </a:prstGeom>
        </p:spPr>
      </p:pic>
      <p:sp>
        <p:nvSpPr>
          <p:cNvPr id="45" name="Text 36">
            <a:extLst>
              <a:ext uri="{FF2B5EF4-FFF2-40B4-BE49-F238E27FC236}">
                <a16:creationId xmlns:a16="http://schemas.microsoft.com/office/drawing/2014/main" id="{0927B733-3C8D-8192-8521-70A7CF9DAE4C}"/>
              </a:ext>
            </a:extLst>
          </p:cNvPr>
          <p:cNvSpPr/>
          <p:nvPr/>
        </p:nvSpPr>
        <p:spPr>
          <a:xfrm>
            <a:off x="10168128" y="1737360"/>
            <a:ext cx="1538935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&amp; Wet Utilities</a:t>
            </a:r>
            <a:endParaRPr lang="en-US" sz="1050" dirty="0"/>
          </a:p>
        </p:txBody>
      </p:sp>
      <p:sp>
        <p:nvSpPr>
          <p:cNvPr id="46" name="Shape 37">
            <a:extLst>
              <a:ext uri="{FF2B5EF4-FFF2-40B4-BE49-F238E27FC236}">
                <a16:creationId xmlns:a16="http://schemas.microsoft.com/office/drawing/2014/main" id="{5EF17421-B8E9-3F04-803E-369673D37B04}"/>
              </a:ext>
            </a:extLst>
          </p:cNvPr>
          <p:cNvSpPr/>
          <p:nvPr/>
        </p:nvSpPr>
        <p:spPr>
          <a:xfrm>
            <a:off x="9601200" y="2179320"/>
            <a:ext cx="2224735" cy="441960"/>
          </a:xfrm>
          <a:prstGeom prst="rect">
            <a:avLst/>
          </a:prstGeom>
          <a:solidFill>
            <a:srgbClr val="F4F1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7" name="Image 7" descr="/home/claude/ksia_rac/assets/side_ga.png">
            <a:extLst>
              <a:ext uri="{FF2B5EF4-FFF2-40B4-BE49-F238E27FC236}">
                <a16:creationId xmlns:a16="http://schemas.microsoft.com/office/drawing/2014/main" id="{0399C5F4-49EE-ED1D-4712-CFAF178E05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4080" y="2272284"/>
            <a:ext cx="256032" cy="256032"/>
          </a:xfrm>
          <a:prstGeom prst="rect">
            <a:avLst/>
          </a:prstGeom>
        </p:spPr>
      </p:pic>
      <p:sp>
        <p:nvSpPr>
          <p:cNvPr id="48" name="Text 38">
            <a:extLst>
              <a:ext uri="{FF2B5EF4-FFF2-40B4-BE49-F238E27FC236}">
                <a16:creationId xmlns:a16="http://schemas.microsoft.com/office/drawing/2014/main" id="{6A7BC892-A163-6464-C676-38A938B1EEA1}"/>
              </a:ext>
            </a:extLst>
          </p:cNvPr>
          <p:cNvSpPr/>
          <p:nvPr/>
        </p:nvSpPr>
        <p:spPr>
          <a:xfrm>
            <a:off x="10168128" y="2179320"/>
            <a:ext cx="1538935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Terminal</a:t>
            </a:r>
            <a:endParaRPr lang="en-US" sz="1050" dirty="0"/>
          </a:p>
        </p:txBody>
      </p:sp>
      <p:pic>
        <p:nvPicPr>
          <p:cNvPr id="49" name="Image 8" descr="/home/claude/ksia_rac/assets/side_pa.png">
            <a:extLst>
              <a:ext uri="{FF2B5EF4-FFF2-40B4-BE49-F238E27FC236}">
                <a16:creationId xmlns:a16="http://schemas.microsoft.com/office/drawing/2014/main" id="{C5D55FA4-6FB3-59A0-AAC8-A9F17BE15B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4080" y="2714244"/>
            <a:ext cx="256032" cy="256032"/>
          </a:xfrm>
          <a:prstGeom prst="rect">
            <a:avLst/>
          </a:prstGeom>
        </p:spPr>
      </p:pic>
      <p:sp>
        <p:nvSpPr>
          <p:cNvPr id="50" name="Text 39">
            <a:extLst>
              <a:ext uri="{FF2B5EF4-FFF2-40B4-BE49-F238E27FC236}">
                <a16:creationId xmlns:a16="http://schemas.microsoft.com/office/drawing/2014/main" id="{BC930598-11EB-7125-470F-CB8CF5A475E6}"/>
              </a:ext>
            </a:extLst>
          </p:cNvPr>
          <p:cNvSpPr/>
          <p:nvPr/>
        </p:nvSpPr>
        <p:spPr>
          <a:xfrm>
            <a:off x="10168128" y="2621280"/>
            <a:ext cx="1538935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Terminal</a:t>
            </a:r>
            <a:endParaRPr lang="en-US" sz="1050" dirty="0"/>
          </a:p>
        </p:txBody>
      </p:sp>
      <p:sp>
        <p:nvSpPr>
          <p:cNvPr id="51" name="Shape 40">
            <a:extLst>
              <a:ext uri="{FF2B5EF4-FFF2-40B4-BE49-F238E27FC236}">
                <a16:creationId xmlns:a16="http://schemas.microsoft.com/office/drawing/2014/main" id="{D510B5BA-A483-D29A-F6AF-4BE428334E3E}"/>
              </a:ext>
            </a:extLst>
          </p:cNvPr>
          <p:cNvSpPr/>
          <p:nvPr/>
        </p:nvSpPr>
        <p:spPr>
          <a:xfrm>
            <a:off x="9601200" y="3063240"/>
            <a:ext cx="2224735" cy="441960"/>
          </a:xfrm>
          <a:prstGeom prst="rect">
            <a:avLst/>
          </a:prstGeom>
          <a:solidFill>
            <a:srgbClr val="F4F1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9" descr="/home/claude/ksia_rac/assets/side_apron.png">
            <a:extLst>
              <a:ext uri="{FF2B5EF4-FFF2-40B4-BE49-F238E27FC236}">
                <a16:creationId xmlns:a16="http://schemas.microsoft.com/office/drawing/2014/main" id="{EE6EFE67-E256-24F2-0002-25C9A14375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4080" y="3156204"/>
            <a:ext cx="256032" cy="256032"/>
          </a:xfrm>
          <a:prstGeom prst="rect">
            <a:avLst/>
          </a:prstGeom>
        </p:spPr>
      </p:pic>
      <p:sp>
        <p:nvSpPr>
          <p:cNvPr id="53" name="Text 41">
            <a:extLst>
              <a:ext uri="{FF2B5EF4-FFF2-40B4-BE49-F238E27FC236}">
                <a16:creationId xmlns:a16="http://schemas.microsoft.com/office/drawing/2014/main" id="{3B2639E0-B596-3BD1-A5E2-F2E067DBA768}"/>
              </a:ext>
            </a:extLst>
          </p:cNvPr>
          <p:cNvSpPr/>
          <p:nvPr/>
        </p:nvSpPr>
        <p:spPr>
          <a:xfrm>
            <a:off x="10168128" y="3063240"/>
            <a:ext cx="1538935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Apron</a:t>
            </a:r>
            <a:endParaRPr lang="en-US" sz="1050" dirty="0"/>
          </a:p>
        </p:txBody>
      </p:sp>
      <p:pic>
        <p:nvPicPr>
          <p:cNvPr id="54" name="Image 10" descr="/home/claude/ksia_rac/assets/side_campus.png">
            <a:extLst>
              <a:ext uri="{FF2B5EF4-FFF2-40B4-BE49-F238E27FC236}">
                <a16:creationId xmlns:a16="http://schemas.microsoft.com/office/drawing/2014/main" id="{6656A346-8A0B-6A70-0FBF-CB23220400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4080" y="3598164"/>
            <a:ext cx="256032" cy="256032"/>
          </a:xfrm>
          <a:prstGeom prst="rect">
            <a:avLst/>
          </a:prstGeom>
        </p:spPr>
      </p:pic>
      <p:sp>
        <p:nvSpPr>
          <p:cNvPr id="55" name="Text 42">
            <a:extLst>
              <a:ext uri="{FF2B5EF4-FFF2-40B4-BE49-F238E27FC236}">
                <a16:creationId xmlns:a16="http://schemas.microsoft.com/office/drawing/2014/main" id="{3431239F-236A-28E0-82F3-F8BE484B5589}"/>
              </a:ext>
            </a:extLst>
          </p:cNvPr>
          <p:cNvSpPr/>
          <p:nvPr/>
        </p:nvSpPr>
        <p:spPr>
          <a:xfrm>
            <a:off x="10168128" y="3505200"/>
            <a:ext cx="1538935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Campus</a:t>
            </a:r>
            <a:endParaRPr lang="en-US" sz="1050" dirty="0"/>
          </a:p>
        </p:txBody>
      </p:sp>
      <p:sp>
        <p:nvSpPr>
          <p:cNvPr id="56" name="Shape 43">
            <a:extLst>
              <a:ext uri="{FF2B5EF4-FFF2-40B4-BE49-F238E27FC236}">
                <a16:creationId xmlns:a16="http://schemas.microsoft.com/office/drawing/2014/main" id="{8E352B5F-B64D-C8FC-EB92-A772F661420D}"/>
              </a:ext>
            </a:extLst>
          </p:cNvPr>
          <p:cNvSpPr/>
          <p:nvPr/>
        </p:nvSpPr>
        <p:spPr>
          <a:xfrm>
            <a:off x="9601200" y="3947160"/>
            <a:ext cx="2224735" cy="441960"/>
          </a:xfrm>
          <a:prstGeom prst="rect">
            <a:avLst/>
          </a:prstGeom>
          <a:solidFill>
            <a:srgbClr val="F4F1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Image 11" descr="/home/claude/ksia_rac/assets/side_fire.png">
            <a:extLst>
              <a:ext uri="{FF2B5EF4-FFF2-40B4-BE49-F238E27FC236}">
                <a16:creationId xmlns:a16="http://schemas.microsoft.com/office/drawing/2014/main" id="{F58D99D1-57A9-1914-1714-EA789B5ED9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4080" y="4021836"/>
            <a:ext cx="292608" cy="292608"/>
          </a:xfrm>
          <a:prstGeom prst="rect">
            <a:avLst/>
          </a:prstGeom>
        </p:spPr>
      </p:pic>
      <p:sp>
        <p:nvSpPr>
          <p:cNvPr id="58" name="Text 44">
            <a:extLst>
              <a:ext uri="{FF2B5EF4-FFF2-40B4-BE49-F238E27FC236}">
                <a16:creationId xmlns:a16="http://schemas.microsoft.com/office/drawing/2014/main" id="{EDA1C3B6-0A1D-32DC-3269-D2AAB894C1F1}"/>
              </a:ext>
            </a:extLst>
          </p:cNvPr>
          <p:cNvSpPr/>
          <p:nvPr/>
        </p:nvSpPr>
        <p:spPr>
          <a:xfrm>
            <a:off x="10168128" y="3947160"/>
            <a:ext cx="1538935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Stations &amp;</a:t>
            </a:r>
            <a:endParaRPr lang="en-US" sz="105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Utilities</a:t>
            </a:r>
            <a:endParaRPr lang="en-US" sz="1050" dirty="0"/>
          </a:p>
        </p:txBody>
      </p:sp>
      <p:pic>
        <p:nvPicPr>
          <p:cNvPr id="59" name="Image 12" descr="/home/claude/ksia_rac/assets/side_ncrd.png">
            <a:extLst>
              <a:ext uri="{FF2B5EF4-FFF2-40B4-BE49-F238E27FC236}">
                <a16:creationId xmlns:a16="http://schemas.microsoft.com/office/drawing/2014/main" id="{24AE0481-02FE-7695-570B-D7FD7D1691D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84080" y="4482084"/>
            <a:ext cx="256032" cy="256032"/>
          </a:xfrm>
          <a:prstGeom prst="rect">
            <a:avLst/>
          </a:prstGeom>
        </p:spPr>
      </p:pic>
      <p:sp>
        <p:nvSpPr>
          <p:cNvPr id="60" name="Text 45">
            <a:extLst>
              <a:ext uri="{FF2B5EF4-FFF2-40B4-BE49-F238E27FC236}">
                <a16:creationId xmlns:a16="http://schemas.microsoft.com/office/drawing/2014/main" id="{511B8840-24A5-334A-C527-1C5BB6513D30}"/>
              </a:ext>
            </a:extLst>
          </p:cNvPr>
          <p:cNvSpPr/>
          <p:nvPr/>
        </p:nvSpPr>
        <p:spPr>
          <a:xfrm>
            <a:off x="10168128" y="4389120"/>
            <a:ext cx="1538935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NCRD</a:t>
            </a:r>
            <a:endParaRPr lang="en-US" sz="1050" dirty="0"/>
          </a:p>
        </p:txBody>
      </p:sp>
      <p:sp>
        <p:nvSpPr>
          <p:cNvPr id="61" name="Shape 46">
            <a:extLst>
              <a:ext uri="{FF2B5EF4-FFF2-40B4-BE49-F238E27FC236}">
                <a16:creationId xmlns:a16="http://schemas.microsoft.com/office/drawing/2014/main" id="{B7CC3B45-8C2D-2B5D-472E-670B80E35F56}"/>
              </a:ext>
            </a:extLst>
          </p:cNvPr>
          <p:cNvSpPr/>
          <p:nvPr/>
        </p:nvSpPr>
        <p:spPr>
          <a:xfrm>
            <a:off x="9601200" y="4831080"/>
            <a:ext cx="2224735" cy="441960"/>
          </a:xfrm>
          <a:prstGeom prst="rect">
            <a:avLst/>
          </a:prstGeom>
          <a:solidFill>
            <a:srgbClr val="F4F1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2" name="Image 13" descr="/home/claude/ksia_rac/assets/side_rtr.png">
            <a:extLst>
              <a:ext uri="{FF2B5EF4-FFF2-40B4-BE49-F238E27FC236}">
                <a16:creationId xmlns:a16="http://schemas.microsoft.com/office/drawing/2014/main" id="{C7A383E6-DC3B-5251-F0ED-E1B59094E45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84080" y="4924044"/>
            <a:ext cx="256032" cy="256032"/>
          </a:xfrm>
          <a:prstGeom prst="rect">
            <a:avLst/>
          </a:prstGeom>
        </p:spPr>
      </p:pic>
      <p:sp>
        <p:nvSpPr>
          <p:cNvPr id="63" name="Text 47">
            <a:extLst>
              <a:ext uri="{FF2B5EF4-FFF2-40B4-BE49-F238E27FC236}">
                <a16:creationId xmlns:a16="http://schemas.microsoft.com/office/drawing/2014/main" id="{1E03B221-C28F-8CFF-FEDC-6EDAAF623157}"/>
              </a:ext>
            </a:extLst>
          </p:cNvPr>
          <p:cNvSpPr/>
          <p:nvPr/>
        </p:nvSpPr>
        <p:spPr>
          <a:xfrm>
            <a:off x="10168128" y="4831080"/>
            <a:ext cx="1538935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RTR Sites</a:t>
            </a:r>
            <a:endParaRPr lang="en-US" sz="1050" dirty="0"/>
          </a:p>
        </p:txBody>
      </p:sp>
      <p:pic>
        <p:nvPicPr>
          <p:cNvPr id="64" name="Image 14" descr="/home/claude/ksia_rac/assets/side_paga.png">
            <a:extLst>
              <a:ext uri="{FF2B5EF4-FFF2-40B4-BE49-F238E27FC236}">
                <a16:creationId xmlns:a16="http://schemas.microsoft.com/office/drawing/2014/main" id="{02CC6271-3BE8-1B52-CBE0-83674079F58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84080" y="5366004"/>
            <a:ext cx="256032" cy="256032"/>
          </a:xfrm>
          <a:prstGeom prst="rect">
            <a:avLst/>
          </a:prstGeom>
        </p:spPr>
      </p:pic>
      <p:sp>
        <p:nvSpPr>
          <p:cNvPr id="65" name="Text 48">
            <a:extLst>
              <a:ext uri="{FF2B5EF4-FFF2-40B4-BE49-F238E27FC236}">
                <a16:creationId xmlns:a16="http://schemas.microsoft.com/office/drawing/2014/main" id="{6885C542-AE3B-8F05-4234-F4F980CBEFF7}"/>
              </a:ext>
            </a:extLst>
          </p:cNvPr>
          <p:cNvSpPr/>
          <p:nvPr/>
        </p:nvSpPr>
        <p:spPr>
          <a:xfrm>
            <a:off x="10168128" y="5273040"/>
            <a:ext cx="1538935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District</a:t>
            </a:r>
            <a:endParaRPr lang="en-US" sz="1050" dirty="0"/>
          </a:p>
        </p:txBody>
      </p:sp>
      <p:sp>
        <p:nvSpPr>
          <p:cNvPr id="66" name="Shape 49">
            <a:extLst>
              <a:ext uri="{FF2B5EF4-FFF2-40B4-BE49-F238E27FC236}">
                <a16:creationId xmlns:a16="http://schemas.microsoft.com/office/drawing/2014/main" id="{E2105E2F-A608-E420-9E2A-CA510840BF99}"/>
              </a:ext>
            </a:extLst>
          </p:cNvPr>
          <p:cNvSpPr/>
          <p:nvPr/>
        </p:nvSpPr>
        <p:spPr>
          <a:xfrm>
            <a:off x="365760" y="4526280"/>
            <a:ext cx="90525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9671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7" name="Image 15" descr="/home/claude/ksia_rac/assets/goal_target.png">
            <a:extLst>
              <a:ext uri="{FF2B5EF4-FFF2-40B4-BE49-F238E27FC236}">
                <a16:creationId xmlns:a16="http://schemas.microsoft.com/office/drawing/2014/main" id="{ED25A6C1-7579-C65D-29C4-87F27BDC538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4360" y="4736592"/>
            <a:ext cx="768096" cy="768096"/>
          </a:xfrm>
          <a:prstGeom prst="rect">
            <a:avLst/>
          </a:prstGeom>
        </p:spPr>
      </p:pic>
      <p:sp>
        <p:nvSpPr>
          <p:cNvPr id="68" name="Text 50">
            <a:extLst>
              <a:ext uri="{FF2B5EF4-FFF2-40B4-BE49-F238E27FC236}">
                <a16:creationId xmlns:a16="http://schemas.microsoft.com/office/drawing/2014/main" id="{E9313208-D2D5-2988-261A-612585BC5A2C}"/>
              </a:ext>
            </a:extLst>
          </p:cNvPr>
          <p:cNvSpPr/>
          <p:nvPr/>
        </p:nvSpPr>
        <p:spPr>
          <a:xfrm>
            <a:off x="1508760" y="4636008"/>
            <a:ext cx="23317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 is to enable a </a:t>
            </a:r>
            <a:r>
              <a:rPr lang="en-US" sz="1100" b="1" dirty="0">
                <a:solidFill>
                  <a:srgbClr val="967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seamless, secure, and future-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967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integration between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KSIA and RAC.</a:t>
            </a:r>
            <a:endParaRPr lang="en-US" sz="1100" dirty="0"/>
          </a:p>
        </p:txBody>
      </p:sp>
      <p:sp>
        <p:nvSpPr>
          <p:cNvPr id="69" name="Shape 51">
            <a:extLst>
              <a:ext uri="{FF2B5EF4-FFF2-40B4-BE49-F238E27FC236}">
                <a16:creationId xmlns:a16="http://schemas.microsoft.com/office/drawing/2014/main" id="{878DB6EC-CB59-A1C5-F6F9-7C2191135D49}"/>
              </a:ext>
            </a:extLst>
          </p:cNvPr>
          <p:cNvSpPr/>
          <p:nvPr/>
        </p:nvSpPr>
        <p:spPr>
          <a:xfrm>
            <a:off x="4069080" y="4672584"/>
            <a:ext cx="0" cy="896112"/>
          </a:xfrm>
          <a:prstGeom prst="line">
            <a:avLst/>
          </a:prstGeom>
          <a:noFill/>
          <a:ln w="12700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0" name="Image 16" descr="/home/claude/ksia_rac/assets/goal_shield.png">
            <a:extLst>
              <a:ext uri="{FF2B5EF4-FFF2-40B4-BE49-F238E27FC236}">
                <a16:creationId xmlns:a16="http://schemas.microsoft.com/office/drawing/2014/main" id="{7CE26B66-36B1-1E64-2F12-2D73A331E95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97680" y="4882896"/>
            <a:ext cx="475488" cy="475488"/>
          </a:xfrm>
          <a:prstGeom prst="rect">
            <a:avLst/>
          </a:prstGeom>
        </p:spPr>
      </p:pic>
      <p:sp>
        <p:nvSpPr>
          <p:cNvPr id="71" name="Text 52">
            <a:extLst>
              <a:ext uri="{FF2B5EF4-FFF2-40B4-BE49-F238E27FC236}">
                <a16:creationId xmlns:a16="http://schemas.microsoft.com/office/drawing/2014/main" id="{E5FC594C-2659-DBEA-31EF-C9C76E958AD7}"/>
              </a:ext>
            </a:extLst>
          </p:cNvPr>
          <p:cNvSpPr/>
          <p:nvPr/>
        </p:nvSpPr>
        <p:spPr>
          <a:xfrm>
            <a:off x="4864608" y="4526280"/>
            <a:ext cx="1021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Operational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</a:t>
            </a:r>
            <a:endParaRPr lang="en-US" sz="1050" dirty="0"/>
          </a:p>
        </p:txBody>
      </p:sp>
      <p:pic>
        <p:nvPicPr>
          <p:cNvPr id="72" name="Image 17" descr="/home/claude/ksia_rac/assets/goal_handshake.png">
            <a:extLst>
              <a:ext uri="{FF2B5EF4-FFF2-40B4-BE49-F238E27FC236}">
                <a16:creationId xmlns:a16="http://schemas.microsoft.com/office/drawing/2014/main" id="{99369371-7C9C-6570-5DD0-6AB8D076C70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04560" y="4882896"/>
            <a:ext cx="475488" cy="475488"/>
          </a:xfrm>
          <a:prstGeom prst="rect">
            <a:avLst/>
          </a:prstGeom>
        </p:spPr>
      </p:pic>
      <p:sp>
        <p:nvSpPr>
          <p:cNvPr id="73" name="Text 53">
            <a:extLst>
              <a:ext uri="{FF2B5EF4-FFF2-40B4-BE49-F238E27FC236}">
                <a16:creationId xmlns:a16="http://schemas.microsoft.com/office/drawing/2014/main" id="{1B2F8EB9-0C8A-944E-644D-3D1628E591CC}"/>
              </a:ext>
            </a:extLst>
          </p:cNvPr>
          <p:cNvSpPr/>
          <p:nvPr/>
        </p:nvSpPr>
        <p:spPr>
          <a:xfrm>
            <a:off x="6571488" y="4526280"/>
            <a:ext cx="1021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Investment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Ownership</a:t>
            </a:r>
            <a:endParaRPr lang="en-US" sz="1050" dirty="0"/>
          </a:p>
        </p:txBody>
      </p:sp>
      <p:sp>
        <p:nvSpPr>
          <p:cNvPr id="74" name="Shape 54">
            <a:extLst>
              <a:ext uri="{FF2B5EF4-FFF2-40B4-BE49-F238E27FC236}">
                <a16:creationId xmlns:a16="http://schemas.microsoft.com/office/drawing/2014/main" id="{BE9F58A8-049B-E57B-09C5-52BBBB581CA4}"/>
              </a:ext>
            </a:extLst>
          </p:cNvPr>
          <p:cNvSpPr/>
          <p:nvPr/>
        </p:nvSpPr>
        <p:spPr>
          <a:xfrm>
            <a:off x="5876544" y="4672584"/>
            <a:ext cx="0" cy="896112"/>
          </a:xfrm>
          <a:prstGeom prst="line">
            <a:avLst/>
          </a:prstGeom>
          <a:noFill/>
          <a:ln w="12700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5" name="Image 18" descr="/home/claude/ksia_rac/assets/goal_signpost.png">
            <a:extLst>
              <a:ext uri="{FF2B5EF4-FFF2-40B4-BE49-F238E27FC236}">
                <a16:creationId xmlns:a16="http://schemas.microsoft.com/office/drawing/2014/main" id="{CDEB4136-F08E-E45D-B08C-F2816C3D870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11440" y="4882896"/>
            <a:ext cx="475488" cy="475488"/>
          </a:xfrm>
          <a:prstGeom prst="rect">
            <a:avLst/>
          </a:prstGeom>
        </p:spPr>
      </p:pic>
      <p:sp>
        <p:nvSpPr>
          <p:cNvPr id="76" name="Text 55">
            <a:extLst>
              <a:ext uri="{FF2B5EF4-FFF2-40B4-BE49-F238E27FC236}">
                <a16:creationId xmlns:a16="http://schemas.microsoft.com/office/drawing/2014/main" id="{AC5BBAC5-5EE1-6743-BD76-E47F4DB5B249}"/>
              </a:ext>
            </a:extLst>
          </p:cNvPr>
          <p:cNvSpPr/>
          <p:nvPr/>
        </p:nvSpPr>
        <p:spPr>
          <a:xfrm>
            <a:off x="8278368" y="4526280"/>
            <a:ext cx="1021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Data-Driven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5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050" dirty="0"/>
          </a:p>
        </p:txBody>
      </p:sp>
      <p:sp>
        <p:nvSpPr>
          <p:cNvPr id="77" name="Shape 56">
            <a:extLst>
              <a:ext uri="{FF2B5EF4-FFF2-40B4-BE49-F238E27FC236}">
                <a16:creationId xmlns:a16="http://schemas.microsoft.com/office/drawing/2014/main" id="{37B25D8F-91A6-4B68-8733-FDA6AC9564DE}"/>
              </a:ext>
            </a:extLst>
          </p:cNvPr>
          <p:cNvSpPr/>
          <p:nvPr/>
        </p:nvSpPr>
        <p:spPr>
          <a:xfrm>
            <a:off x="7583424" y="4672584"/>
            <a:ext cx="0" cy="896112"/>
          </a:xfrm>
          <a:prstGeom prst="line">
            <a:avLst/>
          </a:prstGeom>
          <a:noFill/>
          <a:ln w="12700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9" name="Image 19" descr="/home/claude/ksia_rac/assets/banner_trend.png">
            <a:extLst>
              <a:ext uri="{FF2B5EF4-FFF2-40B4-BE49-F238E27FC236}">
                <a16:creationId xmlns:a16="http://schemas.microsoft.com/office/drawing/2014/main" id="{CAAB6931-FF47-19FB-46FF-EB2B60E0EDD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94560" y="5952744"/>
            <a:ext cx="347472" cy="347472"/>
          </a:xfrm>
          <a:prstGeom prst="rect">
            <a:avLst/>
          </a:prstGeom>
        </p:spPr>
      </p:pic>
      <p:sp>
        <p:nvSpPr>
          <p:cNvPr id="80" name="Text 58">
            <a:extLst>
              <a:ext uri="{FF2B5EF4-FFF2-40B4-BE49-F238E27FC236}">
                <a16:creationId xmlns:a16="http://schemas.microsoft.com/office/drawing/2014/main" id="{9F77E60B-C897-FA85-0113-4AAB4FADF215}"/>
              </a:ext>
            </a:extLst>
          </p:cNvPr>
          <p:cNvSpPr/>
          <p:nvPr/>
        </p:nvSpPr>
        <p:spPr>
          <a:xfrm>
            <a:off x="2697480" y="5897880"/>
            <a:ext cx="8442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analysis to action – we are creating the shortest path to integration success.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383891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4021</TotalTime>
  <Words>170</Words>
  <Application>Microsoft Office PowerPoint</Application>
  <PresentationFormat>Widescreen</PresentationFormat>
  <Paragraphs>64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KSIA-RAC Integration Update</dc:title>
  <dc:subject>PptxGenJS Presentation</dc:subject>
  <dc:creator>KSIA I&amp;O</dc:creator>
  <cp:lastModifiedBy>Mansour, Amr</cp:lastModifiedBy>
  <cp:revision>3</cp:revision>
  <dcterms:created xsi:type="dcterms:W3CDTF">2026-07-09T07:43:41Z</dcterms:created>
  <dcterms:modified xsi:type="dcterms:W3CDTF">2026-07-12T10:47:12Z</dcterms:modified>
</cp:coreProperties>
</file>